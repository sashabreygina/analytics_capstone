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8404800" cy="32918400"/>
  <p:notesSz cx="6715125" cy="9239250"/>
  <p:defaultTextStyle>
    <a:defPPr>
      <a:defRPr lang="en-US"/>
    </a:defPPr>
    <a:lvl1pPr algn="ctr" rtl="0" fontAlgn="base">
      <a:spcBef>
        <a:spcPct val="0"/>
      </a:spcBef>
      <a:spcAft>
        <a:spcPct val="0"/>
      </a:spcAft>
      <a:defRPr sz="8600" kern="1200">
        <a:solidFill>
          <a:schemeClr val="tx1"/>
        </a:solidFill>
        <a:latin typeface="Arial" charset="0"/>
        <a:ea typeface="+mn-ea"/>
        <a:cs typeface="+mn-cs"/>
      </a:defRPr>
    </a:lvl1pPr>
    <a:lvl2pPr marL="457200" algn="ctr" rtl="0" fontAlgn="base">
      <a:spcBef>
        <a:spcPct val="0"/>
      </a:spcBef>
      <a:spcAft>
        <a:spcPct val="0"/>
      </a:spcAft>
      <a:defRPr sz="8600" kern="1200">
        <a:solidFill>
          <a:schemeClr val="tx1"/>
        </a:solidFill>
        <a:latin typeface="Arial" charset="0"/>
        <a:ea typeface="+mn-ea"/>
        <a:cs typeface="+mn-cs"/>
      </a:defRPr>
    </a:lvl2pPr>
    <a:lvl3pPr marL="914400" algn="ctr" rtl="0" fontAlgn="base">
      <a:spcBef>
        <a:spcPct val="0"/>
      </a:spcBef>
      <a:spcAft>
        <a:spcPct val="0"/>
      </a:spcAft>
      <a:defRPr sz="8600" kern="1200">
        <a:solidFill>
          <a:schemeClr val="tx1"/>
        </a:solidFill>
        <a:latin typeface="Arial" charset="0"/>
        <a:ea typeface="+mn-ea"/>
        <a:cs typeface="+mn-cs"/>
      </a:defRPr>
    </a:lvl3pPr>
    <a:lvl4pPr marL="1371600" algn="ctr" rtl="0" fontAlgn="base">
      <a:spcBef>
        <a:spcPct val="0"/>
      </a:spcBef>
      <a:spcAft>
        <a:spcPct val="0"/>
      </a:spcAft>
      <a:defRPr sz="8600" kern="1200">
        <a:solidFill>
          <a:schemeClr val="tx1"/>
        </a:solidFill>
        <a:latin typeface="Arial" charset="0"/>
        <a:ea typeface="+mn-ea"/>
        <a:cs typeface="+mn-cs"/>
      </a:defRPr>
    </a:lvl4pPr>
    <a:lvl5pPr marL="1828800" algn="ctr" rtl="0" fontAlgn="base">
      <a:spcBef>
        <a:spcPct val="0"/>
      </a:spcBef>
      <a:spcAft>
        <a:spcPct val="0"/>
      </a:spcAft>
      <a:defRPr sz="8600" kern="1200">
        <a:solidFill>
          <a:schemeClr val="tx1"/>
        </a:solidFill>
        <a:latin typeface="Arial" charset="0"/>
        <a:ea typeface="+mn-ea"/>
        <a:cs typeface="+mn-cs"/>
      </a:defRPr>
    </a:lvl5pPr>
    <a:lvl6pPr marL="2286000" algn="l" defTabSz="914400" rtl="0" eaLnBrk="1" latinLnBrk="0" hangingPunct="1">
      <a:defRPr sz="8600" kern="1200">
        <a:solidFill>
          <a:schemeClr val="tx1"/>
        </a:solidFill>
        <a:latin typeface="Arial" charset="0"/>
        <a:ea typeface="+mn-ea"/>
        <a:cs typeface="+mn-cs"/>
      </a:defRPr>
    </a:lvl6pPr>
    <a:lvl7pPr marL="2743200" algn="l" defTabSz="914400" rtl="0" eaLnBrk="1" latinLnBrk="0" hangingPunct="1">
      <a:defRPr sz="8600" kern="1200">
        <a:solidFill>
          <a:schemeClr val="tx1"/>
        </a:solidFill>
        <a:latin typeface="Arial" charset="0"/>
        <a:ea typeface="+mn-ea"/>
        <a:cs typeface="+mn-cs"/>
      </a:defRPr>
    </a:lvl7pPr>
    <a:lvl8pPr marL="3200400" algn="l" defTabSz="914400" rtl="0" eaLnBrk="1" latinLnBrk="0" hangingPunct="1">
      <a:defRPr sz="8600" kern="1200">
        <a:solidFill>
          <a:schemeClr val="tx1"/>
        </a:solidFill>
        <a:latin typeface="Arial" charset="0"/>
        <a:ea typeface="+mn-ea"/>
        <a:cs typeface="+mn-cs"/>
      </a:defRPr>
    </a:lvl8pPr>
    <a:lvl9pPr marL="3657600" algn="l" defTabSz="914400" rtl="0" eaLnBrk="1" latinLnBrk="0" hangingPunct="1">
      <a:defRPr sz="8600"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5034">
          <p15:clr>
            <a:srgbClr val="A4A3A4"/>
          </p15:clr>
        </p15:guide>
        <p15:guide id="2" orient="horz" pos="20196">
          <p15:clr>
            <a:srgbClr val="A4A3A4"/>
          </p15:clr>
        </p15:guide>
        <p15:guide id="3" orient="horz" pos="2148">
          <p15:clr>
            <a:srgbClr val="A4A3A4"/>
          </p15:clr>
        </p15:guide>
        <p15:guide id="4" pos="12096">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C0C0"/>
    <a:srgbClr val="0046D2"/>
    <a:srgbClr val="FF0000"/>
    <a:srgbClr val="698ED9"/>
    <a:srgbClr val="A7C4FF"/>
    <a:srgbClr val="003064"/>
    <a:srgbClr val="003399"/>
    <a:srgbClr val="EAEA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94660"/>
  </p:normalViewPr>
  <p:slideViewPr>
    <p:cSldViewPr snapToGrid="0" showGuides="1">
      <p:cViewPr varScale="1">
        <p:scale>
          <a:sx n="23" d="100"/>
          <a:sy n="23" d="100"/>
        </p:scale>
        <p:origin x="1488" y="68"/>
      </p:cViewPr>
      <p:guideLst>
        <p:guide orient="horz" pos="5034"/>
        <p:guide orient="horz" pos="20196"/>
        <p:guide orient="horz" pos="2148"/>
        <p:guide pos="12096"/>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a:defRPr sz="1200"/>
            </a:lvl1pPr>
          </a:lstStyle>
          <a:p>
            <a:endParaRPr lang="en-US" altLang="en-US"/>
          </a:p>
        </p:txBody>
      </p:sp>
      <p:sp>
        <p:nvSpPr>
          <p:cNvPr id="3075" name="Rectangle 3"/>
          <p:cNvSpPr>
            <a:spLocks noGrp="1" noChangeArrowheads="1"/>
          </p:cNvSpPr>
          <p:nvPr>
            <p:ph type="dt" idx="1"/>
          </p:nvPr>
        </p:nvSpPr>
        <p:spPr bwMode="auto">
          <a:xfrm>
            <a:off x="3803650" y="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200"/>
            </a:lvl1pPr>
          </a:lstStyle>
          <a:p>
            <a:endParaRPr lang="en-US" altLang="en-US"/>
          </a:p>
        </p:txBody>
      </p:sp>
      <p:sp>
        <p:nvSpPr>
          <p:cNvPr id="3076" name="Rectangle 4"/>
          <p:cNvSpPr>
            <a:spLocks noGrp="1" noRot="1" noChangeAspect="1" noChangeArrowheads="1" noTextEdit="1"/>
          </p:cNvSpPr>
          <p:nvPr>
            <p:ph type="sldImg" idx="2"/>
          </p:nvPr>
        </p:nvSpPr>
        <p:spPr bwMode="auto">
          <a:xfrm>
            <a:off x="1336675" y="692150"/>
            <a:ext cx="4043363" cy="3465513"/>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3077" name="Rectangle 5"/>
          <p:cNvSpPr>
            <a:spLocks noGrp="1" noChangeArrowheads="1"/>
          </p:cNvSpPr>
          <p:nvPr>
            <p:ph type="body" sz="quarter" idx="3"/>
          </p:nvPr>
        </p:nvSpPr>
        <p:spPr bwMode="auto">
          <a:xfrm>
            <a:off x="671513" y="4389438"/>
            <a:ext cx="5372100" cy="4157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3078" name="Rectangle 6"/>
          <p:cNvSpPr>
            <a:spLocks noGrp="1" noChangeArrowheads="1"/>
          </p:cNvSpPr>
          <p:nvPr>
            <p:ph type="ftr" sz="quarter" idx="4"/>
          </p:nvPr>
        </p:nvSpPr>
        <p:spPr bwMode="auto">
          <a:xfrm>
            <a:off x="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l">
              <a:defRPr sz="1200"/>
            </a:lvl1pPr>
          </a:lstStyle>
          <a:p>
            <a:endParaRPr lang="en-US" altLang="en-US"/>
          </a:p>
        </p:txBody>
      </p:sp>
      <p:sp>
        <p:nvSpPr>
          <p:cNvPr id="3079" name="Rectangle 7"/>
          <p:cNvSpPr>
            <a:spLocks noGrp="1" noChangeArrowheads="1"/>
          </p:cNvSpPr>
          <p:nvPr>
            <p:ph type="sldNum" sz="quarter" idx="5"/>
          </p:nvPr>
        </p:nvSpPr>
        <p:spPr bwMode="auto">
          <a:xfrm>
            <a:off x="3803650" y="8775700"/>
            <a:ext cx="2909888" cy="461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lvl1pPr algn="r">
              <a:defRPr sz="1200"/>
            </a:lvl1pPr>
          </a:lstStyle>
          <a:p>
            <a:fld id="{4AF988C1-CF1B-4760-98E2-A0BA1B5019B0}" type="slidenum">
              <a:rPr lang="en-US" altLang="en-US"/>
              <a:pPr/>
              <a:t>‹#›</a:t>
            </a:fld>
            <a:endParaRPr lang="en-US" altLang="en-US"/>
          </a:p>
        </p:txBody>
      </p:sp>
    </p:spTree>
    <p:extLst>
      <p:ext uri="{BB962C8B-B14F-4D97-AF65-F5344CB8AC3E}">
        <p14:creationId xmlns:p14="http://schemas.microsoft.com/office/powerpoint/2010/main" val="2601008783"/>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charset="0"/>
        <a:ea typeface="+mn-ea"/>
        <a:cs typeface="+mn-cs"/>
      </a:defRPr>
    </a:lvl1pPr>
    <a:lvl2pPr marL="457200" algn="l" rtl="0" fontAlgn="base">
      <a:spcBef>
        <a:spcPct val="30000"/>
      </a:spcBef>
      <a:spcAft>
        <a:spcPct val="0"/>
      </a:spcAft>
      <a:defRPr sz="1200" kern="1200">
        <a:solidFill>
          <a:schemeClr val="tx1"/>
        </a:solidFill>
        <a:latin typeface="Arial" charset="0"/>
        <a:ea typeface="+mn-ea"/>
        <a:cs typeface="+mn-cs"/>
      </a:defRPr>
    </a:lvl2pPr>
    <a:lvl3pPr marL="914400" algn="l" rtl="0" fontAlgn="base">
      <a:spcBef>
        <a:spcPct val="30000"/>
      </a:spcBef>
      <a:spcAft>
        <a:spcPct val="0"/>
      </a:spcAft>
      <a:defRPr sz="1200" kern="1200">
        <a:solidFill>
          <a:schemeClr val="tx1"/>
        </a:solidFill>
        <a:latin typeface="Arial" charset="0"/>
        <a:ea typeface="+mn-ea"/>
        <a:cs typeface="+mn-cs"/>
      </a:defRPr>
    </a:lvl3pPr>
    <a:lvl4pPr marL="1371600" algn="l" rtl="0" fontAlgn="base">
      <a:spcBef>
        <a:spcPct val="30000"/>
      </a:spcBef>
      <a:spcAft>
        <a:spcPct val="0"/>
      </a:spcAft>
      <a:defRPr sz="1200" kern="1200">
        <a:solidFill>
          <a:schemeClr val="tx1"/>
        </a:solidFill>
        <a:latin typeface="Arial" charset="0"/>
        <a:ea typeface="+mn-ea"/>
        <a:cs typeface="+mn-cs"/>
      </a:defRPr>
    </a:lvl4pPr>
    <a:lvl5pPr marL="1828800" algn="l" rtl="0" fontAlgn="base">
      <a:spcBef>
        <a:spcPct val="30000"/>
      </a:spcBef>
      <a:spcAft>
        <a:spcPct val="0"/>
      </a:spcAft>
      <a:defRPr sz="12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D4621684-0133-42C8-B98A-0C650264A543}" type="slidenum">
              <a:rPr lang="en-US" altLang="en-US"/>
              <a:pPr/>
              <a:t>1</a:t>
            </a:fld>
            <a:endParaRPr lang="en-US" altLang="en-US"/>
          </a:p>
        </p:txBody>
      </p:sp>
      <p:sp>
        <p:nvSpPr>
          <p:cNvPr id="4098" name="Rectangle 2"/>
          <p:cNvSpPr>
            <a:spLocks noGrp="1" noRot="1" noChangeAspect="1" noChangeArrowheads="1" noTextEdit="1"/>
          </p:cNvSpPr>
          <p:nvPr>
            <p:ph type="sldImg"/>
          </p:nvPr>
        </p:nvSpPr>
        <p:spPr>
          <a:ln/>
        </p:spPr>
      </p:sp>
      <p:sp>
        <p:nvSpPr>
          <p:cNvPr id="4099" name="Rectangle 3"/>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474783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1.w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1036" name="Object 12"/>
          <p:cNvGraphicFramePr>
            <a:graphicFrameLocks noChangeAspect="1"/>
          </p:cNvGraphicFramePr>
          <p:nvPr userDrawn="1"/>
        </p:nvGraphicFramePr>
        <p:xfrm>
          <a:off x="31337250" y="32385000"/>
          <a:ext cx="5915025" cy="212725"/>
        </p:xfrm>
        <a:graphic>
          <a:graphicData uri="http://schemas.openxmlformats.org/presentationml/2006/ole">
            <mc:AlternateContent xmlns:mc="http://schemas.openxmlformats.org/markup-compatibility/2006">
              <mc:Choice xmlns:v="urn:schemas-microsoft-com:vml" Requires="v">
                <p:oleObj name="CorelDRAW" r:id="rId3" imgW="8828280" imgH="313200" progId="CorelDRAW.Graphic.13">
                  <p:embed/>
                </p:oleObj>
              </mc:Choice>
              <mc:Fallback>
                <p:oleObj name="CorelDRAW" r:id="rId3" imgW="8828280" imgH="313200" progId="CorelDRAW.Graphic.13">
                  <p:embed/>
                  <p:pic>
                    <p:nvPicPr>
                      <p:cNvPr id="0" name="Object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37250" y="32385000"/>
                        <a:ext cx="5915025" cy="21272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37" name="AutoShape 13"/>
          <p:cNvSpPr>
            <a:spLocks noChangeArrowheads="1"/>
          </p:cNvSpPr>
          <p:nvPr userDrawn="1"/>
        </p:nvSpPr>
        <p:spPr bwMode="auto">
          <a:xfrm>
            <a:off x="28736925" y="6096000"/>
            <a:ext cx="9067800" cy="25984200"/>
          </a:xfrm>
          <a:prstGeom prst="roundRect">
            <a:avLst>
              <a:gd name="adj" fmla="val 7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8" name="AutoShape 14"/>
          <p:cNvSpPr>
            <a:spLocks noChangeArrowheads="1"/>
          </p:cNvSpPr>
          <p:nvPr userDrawn="1"/>
        </p:nvSpPr>
        <p:spPr bwMode="auto">
          <a:xfrm>
            <a:off x="9934575" y="6096000"/>
            <a:ext cx="9067800" cy="25984200"/>
          </a:xfrm>
          <a:prstGeom prst="roundRect">
            <a:avLst>
              <a:gd name="adj" fmla="val 7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39" name="AutoShape 15"/>
          <p:cNvSpPr>
            <a:spLocks noChangeArrowheads="1"/>
          </p:cNvSpPr>
          <p:nvPr userDrawn="1"/>
        </p:nvSpPr>
        <p:spPr bwMode="auto">
          <a:xfrm>
            <a:off x="19335750" y="6096000"/>
            <a:ext cx="9067800" cy="25984200"/>
          </a:xfrm>
          <a:prstGeom prst="roundRect">
            <a:avLst>
              <a:gd name="adj" fmla="val 7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40" name="AutoShape 16"/>
          <p:cNvSpPr>
            <a:spLocks noChangeArrowheads="1"/>
          </p:cNvSpPr>
          <p:nvPr userDrawn="1"/>
        </p:nvSpPr>
        <p:spPr bwMode="auto">
          <a:xfrm>
            <a:off x="533400" y="6096000"/>
            <a:ext cx="9067800" cy="25984200"/>
          </a:xfrm>
          <a:prstGeom prst="roundRect">
            <a:avLst>
              <a:gd name="adj" fmla="val 7000"/>
            </a:avLst>
          </a:prstGeom>
          <a:solidFill>
            <a:schemeClr val="bg1"/>
          </a:soli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ctr" defTabSz="4389438" rtl="0" fontAlgn="base">
        <a:spcBef>
          <a:spcPct val="0"/>
        </a:spcBef>
        <a:spcAft>
          <a:spcPct val="0"/>
        </a:spcAft>
        <a:defRPr sz="21100">
          <a:solidFill>
            <a:schemeClr val="tx2"/>
          </a:solidFill>
          <a:latin typeface="+mj-lt"/>
          <a:ea typeface="+mj-ea"/>
          <a:cs typeface="+mj-cs"/>
        </a:defRPr>
      </a:lvl1pPr>
      <a:lvl2pPr algn="ctr" defTabSz="4389438" rtl="0" fontAlgn="base">
        <a:spcBef>
          <a:spcPct val="0"/>
        </a:spcBef>
        <a:spcAft>
          <a:spcPct val="0"/>
        </a:spcAft>
        <a:defRPr sz="21100">
          <a:solidFill>
            <a:schemeClr val="tx2"/>
          </a:solidFill>
          <a:latin typeface="Arial" charset="0"/>
        </a:defRPr>
      </a:lvl2pPr>
      <a:lvl3pPr algn="ctr" defTabSz="4389438" rtl="0" fontAlgn="base">
        <a:spcBef>
          <a:spcPct val="0"/>
        </a:spcBef>
        <a:spcAft>
          <a:spcPct val="0"/>
        </a:spcAft>
        <a:defRPr sz="21100">
          <a:solidFill>
            <a:schemeClr val="tx2"/>
          </a:solidFill>
          <a:latin typeface="Arial" charset="0"/>
        </a:defRPr>
      </a:lvl3pPr>
      <a:lvl4pPr algn="ctr" defTabSz="4389438" rtl="0" fontAlgn="base">
        <a:spcBef>
          <a:spcPct val="0"/>
        </a:spcBef>
        <a:spcAft>
          <a:spcPct val="0"/>
        </a:spcAft>
        <a:defRPr sz="21100">
          <a:solidFill>
            <a:schemeClr val="tx2"/>
          </a:solidFill>
          <a:latin typeface="Arial" charset="0"/>
        </a:defRPr>
      </a:lvl4pPr>
      <a:lvl5pPr algn="ctr" defTabSz="4389438" rtl="0" fontAlgn="base">
        <a:spcBef>
          <a:spcPct val="0"/>
        </a:spcBef>
        <a:spcAft>
          <a:spcPct val="0"/>
        </a:spcAft>
        <a:defRPr sz="21100">
          <a:solidFill>
            <a:schemeClr val="tx2"/>
          </a:solidFill>
          <a:latin typeface="Arial" charset="0"/>
        </a:defRPr>
      </a:lvl5pPr>
      <a:lvl6pPr marL="457200" algn="ctr" defTabSz="4389438" rtl="0" fontAlgn="base">
        <a:spcBef>
          <a:spcPct val="0"/>
        </a:spcBef>
        <a:spcAft>
          <a:spcPct val="0"/>
        </a:spcAft>
        <a:defRPr sz="21100">
          <a:solidFill>
            <a:schemeClr val="tx2"/>
          </a:solidFill>
          <a:latin typeface="Arial" charset="0"/>
        </a:defRPr>
      </a:lvl6pPr>
      <a:lvl7pPr marL="914400" algn="ctr" defTabSz="4389438" rtl="0" fontAlgn="base">
        <a:spcBef>
          <a:spcPct val="0"/>
        </a:spcBef>
        <a:spcAft>
          <a:spcPct val="0"/>
        </a:spcAft>
        <a:defRPr sz="21100">
          <a:solidFill>
            <a:schemeClr val="tx2"/>
          </a:solidFill>
          <a:latin typeface="Arial" charset="0"/>
        </a:defRPr>
      </a:lvl7pPr>
      <a:lvl8pPr marL="1371600" algn="ctr" defTabSz="4389438" rtl="0" fontAlgn="base">
        <a:spcBef>
          <a:spcPct val="0"/>
        </a:spcBef>
        <a:spcAft>
          <a:spcPct val="0"/>
        </a:spcAft>
        <a:defRPr sz="21100">
          <a:solidFill>
            <a:schemeClr val="tx2"/>
          </a:solidFill>
          <a:latin typeface="Arial" charset="0"/>
        </a:defRPr>
      </a:lvl8pPr>
      <a:lvl9pPr marL="1828800" algn="ctr" defTabSz="4389438" rtl="0" fontAlgn="base">
        <a:spcBef>
          <a:spcPct val="0"/>
        </a:spcBef>
        <a:spcAft>
          <a:spcPct val="0"/>
        </a:spcAft>
        <a:defRPr sz="21100">
          <a:solidFill>
            <a:schemeClr val="tx2"/>
          </a:solidFill>
          <a:latin typeface="Arial" charset="0"/>
        </a:defRPr>
      </a:lvl9pPr>
    </p:titleStyle>
    <p:bodyStyle>
      <a:lvl1pPr marL="1646238" indent="-1646238" algn="l" defTabSz="4389438" rtl="0" fontAlgn="base">
        <a:spcBef>
          <a:spcPct val="20000"/>
        </a:spcBef>
        <a:spcAft>
          <a:spcPct val="0"/>
        </a:spcAft>
        <a:buChar char="•"/>
        <a:defRPr sz="15400">
          <a:solidFill>
            <a:schemeClr val="tx1"/>
          </a:solidFill>
          <a:latin typeface="+mn-lt"/>
          <a:ea typeface="+mn-ea"/>
          <a:cs typeface="+mn-cs"/>
        </a:defRPr>
      </a:lvl1pPr>
      <a:lvl2pPr marL="3565525" indent="-1371600" algn="l" defTabSz="4389438" rtl="0" fontAlgn="base">
        <a:spcBef>
          <a:spcPct val="20000"/>
        </a:spcBef>
        <a:spcAft>
          <a:spcPct val="0"/>
        </a:spcAft>
        <a:buChar char="–"/>
        <a:defRPr sz="13400">
          <a:solidFill>
            <a:schemeClr val="tx1"/>
          </a:solidFill>
          <a:latin typeface="+mn-lt"/>
        </a:defRPr>
      </a:lvl2pPr>
      <a:lvl3pPr marL="5486400" indent="-1096963" algn="l" defTabSz="4389438" rtl="0" fontAlgn="base">
        <a:spcBef>
          <a:spcPct val="20000"/>
        </a:spcBef>
        <a:spcAft>
          <a:spcPct val="0"/>
        </a:spcAft>
        <a:buChar char="•"/>
        <a:defRPr sz="11500">
          <a:solidFill>
            <a:schemeClr val="tx1"/>
          </a:solidFill>
          <a:latin typeface="+mn-lt"/>
        </a:defRPr>
      </a:lvl3pPr>
      <a:lvl4pPr marL="7680325" indent="-1096963" algn="l" defTabSz="4389438" rtl="0" fontAlgn="base">
        <a:spcBef>
          <a:spcPct val="20000"/>
        </a:spcBef>
        <a:spcAft>
          <a:spcPct val="0"/>
        </a:spcAft>
        <a:buChar char="–"/>
        <a:defRPr sz="9600">
          <a:solidFill>
            <a:schemeClr val="tx1"/>
          </a:solidFill>
          <a:latin typeface="+mn-lt"/>
        </a:defRPr>
      </a:lvl4pPr>
      <a:lvl5pPr marL="9875838" indent="-1096963" algn="l" defTabSz="4389438" rtl="0" fontAlgn="base">
        <a:spcBef>
          <a:spcPct val="20000"/>
        </a:spcBef>
        <a:spcAft>
          <a:spcPct val="0"/>
        </a:spcAft>
        <a:buChar char="»"/>
        <a:defRPr sz="9600">
          <a:solidFill>
            <a:schemeClr val="tx1"/>
          </a:solidFill>
          <a:latin typeface="+mn-lt"/>
        </a:defRPr>
      </a:lvl5pPr>
      <a:lvl6pPr marL="10333038" indent="-1096963" algn="l" defTabSz="4389438" rtl="0" fontAlgn="base">
        <a:spcBef>
          <a:spcPct val="20000"/>
        </a:spcBef>
        <a:spcAft>
          <a:spcPct val="0"/>
        </a:spcAft>
        <a:buChar char="»"/>
        <a:defRPr sz="9600">
          <a:solidFill>
            <a:schemeClr val="tx1"/>
          </a:solidFill>
          <a:latin typeface="+mn-lt"/>
        </a:defRPr>
      </a:lvl6pPr>
      <a:lvl7pPr marL="10790238" indent="-1096963" algn="l" defTabSz="4389438" rtl="0" fontAlgn="base">
        <a:spcBef>
          <a:spcPct val="20000"/>
        </a:spcBef>
        <a:spcAft>
          <a:spcPct val="0"/>
        </a:spcAft>
        <a:buChar char="»"/>
        <a:defRPr sz="9600">
          <a:solidFill>
            <a:schemeClr val="tx1"/>
          </a:solidFill>
          <a:latin typeface="+mn-lt"/>
        </a:defRPr>
      </a:lvl7pPr>
      <a:lvl8pPr marL="11247438" indent="-1096963" algn="l" defTabSz="4389438" rtl="0" fontAlgn="base">
        <a:spcBef>
          <a:spcPct val="20000"/>
        </a:spcBef>
        <a:spcAft>
          <a:spcPct val="0"/>
        </a:spcAft>
        <a:buChar char="»"/>
        <a:defRPr sz="9600">
          <a:solidFill>
            <a:schemeClr val="tx1"/>
          </a:solidFill>
          <a:latin typeface="+mn-lt"/>
        </a:defRPr>
      </a:lvl8pPr>
      <a:lvl9pPr marL="11704638" indent="-1096963" algn="l" defTabSz="4389438" rtl="0" fontAlgn="base">
        <a:spcBef>
          <a:spcPct val="20000"/>
        </a:spcBef>
        <a:spcAft>
          <a:spcPct val="0"/>
        </a:spcAft>
        <a:buChar char="»"/>
        <a:defRPr sz="9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open.canada.ca/data/en/dataset/2142e30d-9275-424d-be43-f5cc7ec91916/resource/958ae878-72c6-42d8-b59a-f63a6a161b5f#additional-info" TargetMode="External"/><Relationship Id="rId13" Type="http://schemas.openxmlformats.org/officeDocument/2006/relationships/image" Target="../media/image2.png"/><Relationship Id="rId3" Type="http://schemas.openxmlformats.org/officeDocument/2006/relationships/hyperlink" Target="https://www150.statcan.gc.ca/n1/daily-quotidien/250117/dq250117c-eng.htm?utm_source=chatgpt.com" TargetMode="External"/><Relationship Id="rId7" Type="http://schemas.openxmlformats.org/officeDocument/2006/relationships/hyperlink" Target="https://www.iata.org/en/publications/economics/fuel-monitor/" TargetMode="External"/><Relationship Id="rId12" Type="http://schemas.openxmlformats.org/officeDocument/2006/relationships/hyperlink" Target="https://github.com/SashaBreygina/Analytics_Capstone"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www.iata.org/en/publications/economics/fuel-monitor/?utm_source=chatgpt.com" TargetMode="External"/><Relationship Id="rId11" Type="http://schemas.openxmlformats.org/officeDocument/2006/relationships/hyperlink" Target="https://www.fzt.haw-hamburg.de/pers/Scholz/arbeiten/TextKuehn.pdf?utm_source=chatgpt.com" TargetMode="External"/><Relationship Id="rId5" Type="http://schemas.openxmlformats.org/officeDocument/2006/relationships/hyperlink" Target="https://www.icao.int/environmental-protection/pages/aircraft-engine-emissions.aspx?utm_source=chatgpt.com" TargetMode="External"/><Relationship Id="rId15" Type="http://schemas.openxmlformats.org/officeDocument/2006/relationships/image" Target="../media/image4.jpeg"/><Relationship Id="rId10" Type="http://schemas.openxmlformats.org/officeDocument/2006/relationships/hyperlink" Target="https://doi.org/10.3390/en14227559" TargetMode="External"/><Relationship Id="rId4" Type="http://schemas.openxmlformats.org/officeDocument/2006/relationships/hyperlink" Target="https://www150.statcan.gc.ca/n1/daily-quotidien/250117/dq250117c-eng.htm" TargetMode="External"/><Relationship Id="rId9" Type="http://schemas.openxmlformats.org/officeDocument/2006/relationships/hyperlink" Target="https://doi.org/10.3390/aerospace8020044" TargetMode="External"/><Relationship Id="rId1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3064"/>
            </a:gs>
            <a:gs pos="50000">
              <a:srgbClr val="EAEAEA"/>
            </a:gs>
            <a:gs pos="100000">
              <a:srgbClr val="003064"/>
            </a:gs>
          </a:gsLst>
          <a:lin ang="5400000" scaled="1"/>
        </a:gradFill>
        <a:effectLst/>
      </p:bgPr>
    </p:bg>
    <p:spTree>
      <p:nvGrpSpPr>
        <p:cNvPr id="1" name=""/>
        <p:cNvGrpSpPr/>
        <p:nvPr/>
      </p:nvGrpSpPr>
      <p:grpSpPr>
        <a:xfrm>
          <a:off x="0" y="0"/>
          <a:ext cx="0" cy="0"/>
          <a:chOff x="0" y="0"/>
          <a:chExt cx="0" cy="0"/>
        </a:xfrm>
      </p:grpSpPr>
      <p:sp>
        <p:nvSpPr>
          <p:cNvPr id="2098" name="Text Box 50"/>
          <p:cNvSpPr txBox="1">
            <a:spLocks noChangeArrowheads="1"/>
          </p:cNvSpPr>
          <p:nvPr/>
        </p:nvSpPr>
        <p:spPr bwMode="auto">
          <a:xfrm>
            <a:off x="925513" y="7590889"/>
            <a:ext cx="8293100" cy="239142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4389438">
              <a:defRPr>
                <a:solidFill>
                  <a:schemeClr val="tx1"/>
                </a:solidFill>
                <a:latin typeface="Arial" charset="0"/>
              </a:defRPr>
            </a:lvl1pPr>
            <a:lvl2pPr algn="l" defTabSz="4389438">
              <a:defRPr>
                <a:solidFill>
                  <a:schemeClr val="tx1"/>
                </a:solidFill>
                <a:latin typeface="Arial" charset="0"/>
              </a:defRPr>
            </a:lvl2pPr>
            <a:lvl3pPr algn="l" defTabSz="4389438">
              <a:defRPr>
                <a:solidFill>
                  <a:schemeClr val="tx1"/>
                </a:solidFill>
                <a:latin typeface="Arial" charset="0"/>
              </a:defRPr>
            </a:lvl3pPr>
            <a:lvl4pPr algn="l" defTabSz="4389438">
              <a:defRPr>
                <a:solidFill>
                  <a:schemeClr val="tx1"/>
                </a:solidFill>
                <a:latin typeface="Arial" charset="0"/>
              </a:defRPr>
            </a:lvl4pPr>
            <a:lvl5pPr algn="l"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r>
              <a:rPr lang="en-US" sz="3600" dirty="0"/>
              <a:t>Fuel is one of the largest expenses in aviation, accounting for 20–40% of an airline’s operating costs (IATA, 2023). In Canada, these costs continue to rise, with operating expenses reaching $32.9 billion in 2023 and consuming over 91% of airline revenue (Statistics Canada, 2024). Because fuel prices significantly influence profitability, ticket pricing, and planning—and aviation contributes 2–3% of global CO₂ emissions—understanding regional fuel price variations is essential for improving budgeting, refueling strategies, and sustainability efforts (ICAO, 2024).</a:t>
            </a:r>
          </a:p>
          <a:p>
            <a:endParaRPr lang="en-US" sz="3600" dirty="0"/>
          </a:p>
          <a:p>
            <a:pPr algn="ctr"/>
            <a:r>
              <a:rPr lang="en-US" sz="6600" b="1" dirty="0"/>
              <a:t>Research Question</a:t>
            </a:r>
          </a:p>
          <a:p>
            <a:r>
              <a:rPr lang="en-US" sz="4000" dirty="0"/>
              <a:t>How does the price of aviation fuel vary across different regions or cities in Canada?</a:t>
            </a:r>
          </a:p>
          <a:p>
            <a:endParaRPr lang="en-US" sz="4000" b="1" dirty="0"/>
          </a:p>
          <a:p>
            <a:pPr algn="ctr"/>
            <a:r>
              <a:rPr lang="en-US" sz="6600" b="1" dirty="0"/>
              <a:t>Related Work</a:t>
            </a:r>
          </a:p>
          <a:p>
            <a:r>
              <a:rPr lang="en-US" sz="3400" dirty="0"/>
              <a:t>Recent studies show significant advances in fuel consumption prediction through machine learning and data-driven methods. Fang et al. (2024) achieved a low 1.1% error using neural networks and SVMs, while Panigrahi (2025) found Gradient Boosting models most accurate for estimating take-off mass. Uzun et al. (2021) improved reliability in underrepresented flight regimes by integrating physics-based loss functions, and Li et al. (2021) used LSTMs to more accurately predict contingency fuel for China Airlines. Kühn (2023) compared multiple estimation techniques across 50 aircraft types, noting modern aircraft typically consume 0.02–0.025 kg of fuel per km per seat and identifying the strengths and limitations of current methods.</a:t>
            </a:r>
            <a:endParaRPr lang="en-US" sz="3400" b="1" dirty="0"/>
          </a:p>
        </p:txBody>
      </p:sp>
      <p:sp>
        <p:nvSpPr>
          <p:cNvPr id="2099" name="Text Box 51"/>
          <p:cNvSpPr txBox="1">
            <a:spLocks noChangeArrowheads="1"/>
          </p:cNvSpPr>
          <p:nvPr/>
        </p:nvSpPr>
        <p:spPr bwMode="auto">
          <a:xfrm>
            <a:off x="10125075" y="6273800"/>
            <a:ext cx="865822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4389438">
              <a:defRPr>
                <a:solidFill>
                  <a:schemeClr val="tx1"/>
                </a:solidFill>
                <a:latin typeface="Arial" charset="0"/>
              </a:defRPr>
            </a:lvl1pPr>
            <a:lvl2pPr algn="l" defTabSz="4389438">
              <a:defRPr>
                <a:solidFill>
                  <a:schemeClr val="tx1"/>
                </a:solidFill>
                <a:latin typeface="Arial" charset="0"/>
              </a:defRPr>
            </a:lvl2pPr>
            <a:lvl3pPr algn="l" defTabSz="4389438">
              <a:defRPr>
                <a:solidFill>
                  <a:schemeClr val="tx1"/>
                </a:solidFill>
                <a:latin typeface="Arial" charset="0"/>
              </a:defRPr>
            </a:lvl3pPr>
            <a:lvl4pPr algn="l" defTabSz="4389438">
              <a:defRPr>
                <a:solidFill>
                  <a:schemeClr val="tx1"/>
                </a:solidFill>
                <a:latin typeface="Arial" charset="0"/>
              </a:defRPr>
            </a:lvl4pPr>
            <a:lvl5pPr algn="l"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spcBef>
                <a:spcPct val="50000"/>
              </a:spcBef>
            </a:pPr>
            <a:r>
              <a:rPr lang="en-US" altLang="en-US" sz="8000" b="1" dirty="0"/>
              <a:t>Dataset</a:t>
            </a:r>
          </a:p>
        </p:txBody>
      </p:sp>
      <p:sp>
        <p:nvSpPr>
          <p:cNvPr id="2100" name="Text Box 52"/>
          <p:cNvSpPr txBox="1">
            <a:spLocks noChangeArrowheads="1"/>
          </p:cNvSpPr>
          <p:nvPr/>
        </p:nvSpPr>
        <p:spPr bwMode="auto">
          <a:xfrm>
            <a:off x="28822650" y="6273800"/>
            <a:ext cx="8772525"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4389438">
              <a:defRPr>
                <a:solidFill>
                  <a:schemeClr val="tx1"/>
                </a:solidFill>
                <a:latin typeface="Arial" charset="0"/>
              </a:defRPr>
            </a:lvl1pPr>
            <a:lvl2pPr algn="l" defTabSz="4389438">
              <a:defRPr>
                <a:solidFill>
                  <a:schemeClr val="tx1"/>
                </a:solidFill>
                <a:latin typeface="Arial" charset="0"/>
              </a:defRPr>
            </a:lvl2pPr>
            <a:lvl3pPr algn="l" defTabSz="4389438">
              <a:defRPr>
                <a:solidFill>
                  <a:schemeClr val="tx1"/>
                </a:solidFill>
                <a:latin typeface="Arial" charset="0"/>
              </a:defRPr>
            </a:lvl3pPr>
            <a:lvl4pPr algn="l" defTabSz="4389438">
              <a:defRPr>
                <a:solidFill>
                  <a:schemeClr val="tx1"/>
                </a:solidFill>
                <a:latin typeface="Arial" charset="0"/>
              </a:defRPr>
            </a:lvl4pPr>
            <a:lvl5pPr algn="l"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spcBef>
                <a:spcPct val="50000"/>
              </a:spcBef>
            </a:pPr>
            <a:r>
              <a:rPr lang="en-US" altLang="en-US" sz="8000" b="1" dirty="0"/>
              <a:t>Conclusion</a:t>
            </a:r>
          </a:p>
        </p:txBody>
      </p:sp>
      <p:sp>
        <p:nvSpPr>
          <p:cNvPr id="2101" name="AutoShape 53"/>
          <p:cNvSpPr>
            <a:spLocks noChangeArrowheads="1"/>
          </p:cNvSpPr>
          <p:nvPr/>
        </p:nvSpPr>
        <p:spPr bwMode="auto">
          <a:xfrm>
            <a:off x="685800" y="381000"/>
            <a:ext cx="36850638" cy="5257800"/>
          </a:xfrm>
          <a:prstGeom prst="roundRect">
            <a:avLst>
              <a:gd name="adj" fmla="val 10870"/>
            </a:avLst>
          </a:prstGeom>
          <a:gradFill rotWithShape="1">
            <a:gsLst>
              <a:gs pos="0">
                <a:srgbClr val="A7C4FF"/>
              </a:gs>
              <a:gs pos="100000">
                <a:schemeClr val="bg1"/>
              </a:gs>
            </a:gsLst>
            <a:lin ang="5400000" scaled="1"/>
          </a:gradFill>
          <a:ln w="952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lgn="l" defTabSz="4389438">
              <a:defRPr>
                <a:solidFill>
                  <a:schemeClr val="tx1"/>
                </a:solidFill>
                <a:latin typeface="Arial" charset="0"/>
              </a:defRPr>
            </a:lvl1pPr>
            <a:lvl2pPr algn="l" defTabSz="4389438">
              <a:defRPr>
                <a:solidFill>
                  <a:schemeClr val="tx1"/>
                </a:solidFill>
                <a:latin typeface="Arial" charset="0"/>
              </a:defRPr>
            </a:lvl2pPr>
            <a:lvl3pPr algn="l" defTabSz="4389438">
              <a:defRPr>
                <a:solidFill>
                  <a:schemeClr val="tx1"/>
                </a:solidFill>
                <a:latin typeface="Arial" charset="0"/>
              </a:defRPr>
            </a:lvl3pPr>
            <a:lvl4pPr algn="l" defTabSz="4389438">
              <a:defRPr>
                <a:solidFill>
                  <a:schemeClr val="tx1"/>
                </a:solidFill>
                <a:latin typeface="Arial" charset="0"/>
              </a:defRPr>
            </a:lvl4pPr>
            <a:lvl5pPr algn="l"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endParaRPr lang="en-US" altLang="en-US">
              <a:solidFill>
                <a:schemeClr val="bg1"/>
              </a:solidFill>
            </a:endParaRPr>
          </a:p>
        </p:txBody>
      </p:sp>
      <p:sp>
        <p:nvSpPr>
          <p:cNvPr id="2102" name="Text Box 54"/>
          <p:cNvSpPr txBox="1">
            <a:spLocks noChangeArrowheads="1"/>
          </p:cNvSpPr>
          <p:nvPr/>
        </p:nvSpPr>
        <p:spPr bwMode="auto">
          <a:xfrm>
            <a:off x="1219200" y="990600"/>
            <a:ext cx="35860038" cy="332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4389438">
              <a:defRPr>
                <a:solidFill>
                  <a:schemeClr val="tx1"/>
                </a:solidFill>
                <a:latin typeface="Arial" charset="0"/>
              </a:defRPr>
            </a:lvl1pPr>
            <a:lvl2pPr algn="l" defTabSz="4389438">
              <a:defRPr>
                <a:solidFill>
                  <a:schemeClr val="tx1"/>
                </a:solidFill>
                <a:latin typeface="Arial" charset="0"/>
              </a:defRPr>
            </a:lvl2pPr>
            <a:lvl3pPr algn="l" defTabSz="4389438">
              <a:defRPr>
                <a:solidFill>
                  <a:schemeClr val="tx1"/>
                </a:solidFill>
                <a:latin typeface="Arial" charset="0"/>
              </a:defRPr>
            </a:lvl3pPr>
            <a:lvl4pPr algn="l" defTabSz="4389438">
              <a:defRPr>
                <a:solidFill>
                  <a:schemeClr val="tx1"/>
                </a:solidFill>
                <a:latin typeface="Arial" charset="0"/>
              </a:defRPr>
            </a:lvl4pPr>
            <a:lvl5pPr algn="l"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spcBef>
                <a:spcPct val="50000"/>
              </a:spcBef>
            </a:pPr>
            <a:r>
              <a:rPr lang="en-US" sz="9600" dirty="0"/>
              <a:t>Monthly Aircraft Fuel Consumption and Cost For Canadian Fleets</a:t>
            </a:r>
            <a:endParaRPr lang="en-US" altLang="en-US" sz="9600" b="1" dirty="0"/>
          </a:p>
          <a:p>
            <a:pPr algn="ctr"/>
            <a:r>
              <a:rPr lang="en-US" altLang="en-US" sz="6600" b="1" dirty="0"/>
              <a:t>Alexandra Breygina</a:t>
            </a:r>
          </a:p>
          <a:p>
            <a:pPr algn="ctr"/>
            <a:r>
              <a:rPr lang="en-US" altLang="en-US" sz="4800" b="1" i="1" dirty="0"/>
              <a:t>Pace University, Seidenberg School of CSIS</a:t>
            </a:r>
            <a:endParaRPr lang="en-US" altLang="en-US" dirty="0"/>
          </a:p>
        </p:txBody>
      </p:sp>
      <p:sp>
        <p:nvSpPr>
          <p:cNvPr id="2107" name="Text Box 59"/>
          <p:cNvSpPr txBox="1">
            <a:spLocks noChangeArrowheads="1"/>
          </p:cNvSpPr>
          <p:nvPr/>
        </p:nvSpPr>
        <p:spPr bwMode="auto">
          <a:xfrm>
            <a:off x="28657550" y="20513077"/>
            <a:ext cx="8305800" cy="1082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4389438">
              <a:defRPr>
                <a:solidFill>
                  <a:schemeClr val="tx1"/>
                </a:solidFill>
                <a:latin typeface="Arial" charset="0"/>
              </a:defRPr>
            </a:lvl1pPr>
            <a:lvl2pPr algn="l" defTabSz="4389438">
              <a:defRPr>
                <a:solidFill>
                  <a:schemeClr val="tx1"/>
                </a:solidFill>
                <a:latin typeface="Arial" charset="0"/>
              </a:defRPr>
            </a:lvl2pPr>
            <a:lvl3pPr algn="l" defTabSz="4389438">
              <a:defRPr>
                <a:solidFill>
                  <a:schemeClr val="tx1"/>
                </a:solidFill>
                <a:latin typeface="Arial" charset="0"/>
              </a:defRPr>
            </a:lvl3pPr>
            <a:lvl4pPr algn="l" defTabSz="4389438">
              <a:defRPr>
                <a:solidFill>
                  <a:schemeClr val="tx1"/>
                </a:solidFill>
                <a:latin typeface="Arial" charset="0"/>
              </a:defRPr>
            </a:lvl4pPr>
            <a:lvl5pPr algn="l"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spcBef>
                <a:spcPct val="50000"/>
              </a:spcBef>
            </a:pPr>
            <a:r>
              <a:rPr lang="en-US" altLang="en-US" sz="6500" b="1" dirty="0"/>
              <a:t>Bibliography</a:t>
            </a:r>
          </a:p>
        </p:txBody>
      </p:sp>
      <p:sp>
        <p:nvSpPr>
          <p:cNvPr id="2109" name="Text Box 61"/>
          <p:cNvSpPr txBox="1">
            <a:spLocks noChangeArrowheads="1"/>
          </p:cNvSpPr>
          <p:nvPr/>
        </p:nvSpPr>
        <p:spPr bwMode="auto">
          <a:xfrm>
            <a:off x="10506076" y="7590889"/>
            <a:ext cx="8251825" cy="1422872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170" tIns="30584" rIns="61170" bIns="30584">
            <a:spAutoFit/>
          </a:bodyPr>
          <a:lstStyle>
            <a:lvl1pPr algn="l" defTabSz="612775">
              <a:defRPr>
                <a:solidFill>
                  <a:schemeClr val="tx1"/>
                </a:solidFill>
                <a:latin typeface="Arial" charset="0"/>
              </a:defRPr>
            </a:lvl1pPr>
            <a:lvl2pPr marL="306388" algn="l" defTabSz="612775">
              <a:defRPr>
                <a:solidFill>
                  <a:schemeClr val="tx1"/>
                </a:solidFill>
                <a:latin typeface="Arial" charset="0"/>
              </a:defRPr>
            </a:lvl2pPr>
            <a:lvl3pPr marL="612775" algn="l" defTabSz="612775">
              <a:defRPr>
                <a:solidFill>
                  <a:schemeClr val="tx1"/>
                </a:solidFill>
                <a:latin typeface="Arial" charset="0"/>
              </a:defRPr>
            </a:lvl3pPr>
            <a:lvl4pPr marL="915988" algn="l" defTabSz="612775">
              <a:defRPr>
                <a:solidFill>
                  <a:schemeClr val="tx1"/>
                </a:solidFill>
                <a:latin typeface="Arial" charset="0"/>
              </a:defRPr>
            </a:lvl4pPr>
            <a:lvl5pPr marL="1222375" algn="l" defTabSz="612775">
              <a:defRPr>
                <a:solidFill>
                  <a:schemeClr val="tx1"/>
                </a:solidFill>
                <a:latin typeface="Arial" charset="0"/>
              </a:defRPr>
            </a:lvl5pPr>
            <a:lvl6pPr marL="1679575" defTabSz="612775" fontAlgn="base">
              <a:spcBef>
                <a:spcPct val="0"/>
              </a:spcBef>
              <a:spcAft>
                <a:spcPct val="0"/>
              </a:spcAft>
              <a:defRPr>
                <a:solidFill>
                  <a:schemeClr val="tx1"/>
                </a:solidFill>
                <a:latin typeface="Arial" charset="0"/>
              </a:defRPr>
            </a:lvl6pPr>
            <a:lvl7pPr marL="2136775" defTabSz="612775" fontAlgn="base">
              <a:spcBef>
                <a:spcPct val="0"/>
              </a:spcBef>
              <a:spcAft>
                <a:spcPct val="0"/>
              </a:spcAft>
              <a:defRPr>
                <a:solidFill>
                  <a:schemeClr val="tx1"/>
                </a:solidFill>
                <a:latin typeface="Arial" charset="0"/>
              </a:defRPr>
            </a:lvl7pPr>
            <a:lvl8pPr marL="2593975" defTabSz="612775" fontAlgn="base">
              <a:spcBef>
                <a:spcPct val="0"/>
              </a:spcBef>
              <a:spcAft>
                <a:spcPct val="0"/>
              </a:spcAft>
              <a:defRPr>
                <a:solidFill>
                  <a:schemeClr val="tx1"/>
                </a:solidFill>
                <a:latin typeface="Arial" charset="0"/>
              </a:defRPr>
            </a:lvl8pPr>
            <a:lvl9pPr marL="3051175" defTabSz="612775" fontAlgn="base">
              <a:spcBef>
                <a:spcPct val="0"/>
              </a:spcBef>
              <a:spcAft>
                <a:spcPct val="0"/>
              </a:spcAft>
              <a:defRPr>
                <a:solidFill>
                  <a:schemeClr val="tx1"/>
                </a:solidFill>
                <a:latin typeface="Arial" charset="0"/>
              </a:defRPr>
            </a:lvl9pPr>
          </a:lstStyle>
          <a:p>
            <a:pPr eaLnBrk="0" hangingPunct="0">
              <a:lnSpc>
                <a:spcPct val="95000"/>
              </a:lnSpc>
            </a:pPr>
            <a:r>
              <a:rPr lang="en-US" sz="3800" dirty="0"/>
              <a:t>The dataset used is “Aircraft Fleet: Monthly Fuel Consumption, by Region or Group,” and comes from the Government of Canada. This dataset provides detailed records of aviation fuel purchases made across Canada, which is collected from the Government of Canada’s open data portal. It contains 406 entries covering aircraft fuel transactions from various regions and cities. Each record includes information about the aircraft identifier, location of purchase, fuel supplier, payment method, fuel volume (in liters), price per liter (in CAD), and total cost</a:t>
            </a:r>
            <a:r>
              <a:rPr lang="en-US" sz="3600" dirty="0"/>
              <a:t>. </a:t>
            </a:r>
            <a:endParaRPr lang="en-US" altLang="en-US" sz="3600" dirty="0">
              <a:latin typeface="Times New Roman" pitchFamily="18" charset="0"/>
            </a:endParaRPr>
          </a:p>
          <a:p>
            <a:pPr eaLnBrk="0" hangingPunct="0">
              <a:lnSpc>
                <a:spcPct val="95000"/>
              </a:lnSpc>
            </a:pPr>
            <a:endParaRPr lang="en-US" altLang="en-US" sz="2800" b="1" dirty="0">
              <a:latin typeface="Times New Roman" pitchFamily="18" charset="0"/>
            </a:endParaRPr>
          </a:p>
          <a:p>
            <a:pPr algn="ctr" eaLnBrk="0" hangingPunct="0">
              <a:lnSpc>
                <a:spcPct val="95000"/>
              </a:lnSpc>
            </a:pPr>
            <a:r>
              <a:rPr lang="en-US" altLang="en-US" sz="7200" b="1" dirty="0">
                <a:latin typeface="Times New Roman" pitchFamily="18" charset="0"/>
              </a:rPr>
              <a:t>Methodology</a:t>
            </a:r>
          </a:p>
          <a:p>
            <a:pPr eaLnBrk="0" hangingPunct="0">
              <a:lnSpc>
                <a:spcPct val="95000"/>
              </a:lnSpc>
            </a:pPr>
            <a:r>
              <a:rPr lang="en-US" sz="4000" dirty="0"/>
              <a:t>I used descriptive statistics, visualizations such as heatmaps and boxplots, feature engineering, and regression models, such as linear regression and decision tree regression.</a:t>
            </a:r>
            <a:endParaRPr lang="en-US" altLang="en-US" sz="4000" b="1" dirty="0">
              <a:latin typeface="Times New Roman" pitchFamily="18" charset="0"/>
            </a:endParaRPr>
          </a:p>
          <a:p>
            <a:pPr eaLnBrk="0" hangingPunct="0"/>
            <a:endParaRPr lang="en-US" altLang="en-US" sz="2000" dirty="0">
              <a:latin typeface="Times New Roman" pitchFamily="18" charset="0"/>
            </a:endParaRPr>
          </a:p>
        </p:txBody>
      </p:sp>
      <p:sp>
        <p:nvSpPr>
          <p:cNvPr id="2110" name="Text Box 62"/>
          <p:cNvSpPr txBox="1">
            <a:spLocks noChangeArrowheads="1"/>
          </p:cNvSpPr>
          <p:nvPr/>
        </p:nvSpPr>
        <p:spPr bwMode="auto">
          <a:xfrm>
            <a:off x="29035376" y="21743410"/>
            <a:ext cx="8043862" cy="991061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170" tIns="30584" rIns="61170" bIns="30584">
            <a:spAutoFit/>
          </a:bodyPr>
          <a:lstStyle>
            <a:lvl1pPr marL="342900" indent="-342900" algn="l" defTabSz="612775">
              <a:defRPr>
                <a:solidFill>
                  <a:schemeClr val="tx1"/>
                </a:solidFill>
                <a:latin typeface="Arial" charset="0"/>
              </a:defRPr>
            </a:lvl1pPr>
            <a:lvl2pPr marL="649288" indent="-342900" algn="l" defTabSz="612775">
              <a:defRPr>
                <a:solidFill>
                  <a:schemeClr val="tx1"/>
                </a:solidFill>
                <a:latin typeface="Arial" charset="0"/>
              </a:defRPr>
            </a:lvl2pPr>
            <a:lvl3pPr marL="955675" indent="-342900" algn="l" defTabSz="612775">
              <a:defRPr>
                <a:solidFill>
                  <a:schemeClr val="tx1"/>
                </a:solidFill>
                <a:latin typeface="Arial" charset="0"/>
              </a:defRPr>
            </a:lvl3pPr>
            <a:lvl4pPr marL="1258888" indent="-342900" algn="l" defTabSz="612775">
              <a:defRPr>
                <a:solidFill>
                  <a:schemeClr val="tx1"/>
                </a:solidFill>
                <a:latin typeface="Arial" charset="0"/>
              </a:defRPr>
            </a:lvl4pPr>
            <a:lvl5pPr marL="1565275" indent="-342900" algn="l" defTabSz="612775">
              <a:defRPr>
                <a:solidFill>
                  <a:schemeClr val="tx1"/>
                </a:solidFill>
                <a:latin typeface="Arial" charset="0"/>
              </a:defRPr>
            </a:lvl5pPr>
            <a:lvl6pPr marL="2022475" indent="-342900" defTabSz="612775" fontAlgn="base">
              <a:spcBef>
                <a:spcPct val="0"/>
              </a:spcBef>
              <a:spcAft>
                <a:spcPct val="0"/>
              </a:spcAft>
              <a:defRPr>
                <a:solidFill>
                  <a:schemeClr val="tx1"/>
                </a:solidFill>
                <a:latin typeface="Arial" charset="0"/>
              </a:defRPr>
            </a:lvl6pPr>
            <a:lvl7pPr marL="2479675" indent="-342900" defTabSz="612775" fontAlgn="base">
              <a:spcBef>
                <a:spcPct val="0"/>
              </a:spcBef>
              <a:spcAft>
                <a:spcPct val="0"/>
              </a:spcAft>
              <a:defRPr>
                <a:solidFill>
                  <a:schemeClr val="tx1"/>
                </a:solidFill>
                <a:latin typeface="Arial" charset="0"/>
              </a:defRPr>
            </a:lvl7pPr>
            <a:lvl8pPr marL="2936875" indent="-342900" defTabSz="612775" fontAlgn="base">
              <a:spcBef>
                <a:spcPct val="0"/>
              </a:spcBef>
              <a:spcAft>
                <a:spcPct val="0"/>
              </a:spcAft>
              <a:defRPr>
                <a:solidFill>
                  <a:schemeClr val="tx1"/>
                </a:solidFill>
                <a:latin typeface="Arial" charset="0"/>
              </a:defRPr>
            </a:lvl8pPr>
            <a:lvl9pPr marL="3394075" indent="-342900" defTabSz="612775" fontAlgn="base">
              <a:spcBef>
                <a:spcPct val="0"/>
              </a:spcBef>
              <a:spcAft>
                <a:spcPct val="0"/>
              </a:spcAft>
              <a:defRPr>
                <a:solidFill>
                  <a:schemeClr val="tx1"/>
                </a:solidFill>
                <a:latin typeface="Arial" charset="0"/>
              </a:defRPr>
            </a:lvl9pPr>
          </a:lstStyle>
          <a:p>
            <a:r>
              <a:rPr lang="en-US" sz="2000" dirty="0"/>
              <a:t>Statistics Canada. (2025, January 17). </a:t>
            </a:r>
            <a:r>
              <a:rPr lang="en-US" sz="2000" i="1" dirty="0"/>
              <a:t>Daily—Civil aviation: operating revenues and expenses, North American and international, Canadian air carriers, 2023</a:t>
            </a:r>
            <a:r>
              <a:rPr lang="en-US" sz="2000" dirty="0"/>
              <a:t> [Online]. Government of Canada.</a:t>
            </a:r>
            <a:r>
              <a:rPr lang="en-US" sz="2000" dirty="0">
                <a:hlinkClick r:id="rId3"/>
              </a:rPr>
              <a:t> </a:t>
            </a:r>
            <a:r>
              <a:rPr lang="en-US" sz="2000" u="sng" dirty="0">
                <a:hlinkClick r:id="rId4"/>
              </a:rPr>
              <a:t>https://www150.statcan.gc.ca/n1/daily-quotidien/250117/dq250117c-eng.htm</a:t>
            </a:r>
            <a:endParaRPr lang="en-US" sz="2000" dirty="0"/>
          </a:p>
          <a:p>
            <a:r>
              <a:rPr lang="en-US" sz="2000" dirty="0"/>
              <a:t>International Civil Aviation Organization. (n.d.). </a:t>
            </a:r>
            <a:r>
              <a:rPr lang="en-US" sz="2000" i="1" dirty="0"/>
              <a:t>Aircraft Engine Emissions</a:t>
            </a:r>
            <a:r>
              <a:rPr lang="en-US" sz="2000" dirty="0"/>
              <a:t>. ICAO. Retrieved from</a:t>
            </a:r>
            <a:r>
              <a:rPr lang="en-US" sz="2000" dirty="0">
                <a:hlinkClick r:id="rId5"/>
              </a:rPr>
              <a:t> </a:t>
            </a:r>
            <a:r>
              <a:rPr lang="en-US" sz="2000" u="sng" dirty="0">
                <a:hlinkClick r:id="rId5"/>
              </a:rPr>
              <a:t>https://www.icao.int/environmental-protection/pages/aircraft-engine-emissions.aspx</a:t>
            </a:r>
            <a:endParaRPr lang="en-US" sz="2000" dirty="0"/>
          </a:p>
          <a:p>
            <a:r>
              <a:rPr lang="en-US" sz="2000" dirty="0"/>
              <a:t>IATA. (n.d.). </a:t>
            </a:r>
            <a:r>
              <a:rPr lang="en-US" sz="2000" i="1" dirty="0"/>
              <a:t>Jet Fuel Price Monitor</a:t>
            </a:r>
            <a:r>
              <a:rPr lang="en-US" sz="2000" dirty="0"/>
              <a:t>. International Air Transport Association.</a:t>
            </a:r>
            <a:r>
              <a:rPr lang="en-US" sz="2000" dirty="0">
                <a:hlinkClick r:id="rId6"/>
              </a:rPr>
              <a:t> </a:t>
            </a:r>
            <a:r>
              <a:rPr lang="en-US" sz="2000" u="sng" dirty="0">
                <a:hlinkClick r:id="rId7"/>
              </a:rPr>
              <a:t>https://www.iata.org/en/publications/economics/fuel-monitor/</a:t>
            </a:r>
            <a:endParaRPr lang="en-US" sz="2000" u="sng" dirty="0"/>
          </a:p>
          <a:p>
            <a:r>
              <a:rPr lang="en-US" sz="2000" u="sng" dirty="0">
                <a:hlinkClick r:id="rId8"/>
              </a:rPr>
              <a:t>https://open.canada.ca/data/en/dataset/2142e30d-9275-424d-be43-f5cc7ec91916/resource/958ae878-72c6-42d8-b59a-f63a6a161b5f#additional-info</a:t>
            </a:r>
            <a:endParaRPr lang="en-US" sz="2000" u="sng" dirty="0"/>
          </a:p>
          <a:p>
            <a:r>
              <a:rPr lang="en-US" sz="2000" dirty="0"/>
              <a:t>Uzun, M., </a:t>
            </a:r>
            <a:r>
              <a:rPr lang="en-US" sz="2000" dirty="0" err="1"/>
              <a:t>Demirezen</a:t>
            </a:r>
            <a:r>
              <a:rPr lang="en-US" sz="2000" dirty="0"/>
              <a:t>, M. U., &amp; </a:t>
            </a:r>
            <a:r>
              <a:rPr lang="en-US" sz="2000" dirty="0" err="1"/>
              <a:t>Inalhan</a:t>
            </a:r>
            <a:r>
              <a:rPr lang="en-US" sz="2000" dirty="0"/>
              <a:t>, G. (2021). Physics Guided Deep Learning for Data-Driven Aircraft Fuel Consumption Modeling. </a:t>
            </a:r>
            <a:r>
              <a:rPr lang="en-US" sz="2000" i="1" dirty="0"/>
              <a:t>Aerospace</a:t>
            </a:r>
            <a:r>
              <a:rPr lang="en-US" sz="2000" dirty="0"/>
              <a:t>, </a:t>
            </a:r>
            <a:r>
              <a:rPr lang="en-US" sz="2000" i="1" dirty="0"/>
              <a:t>8</a:t>
            </a:r>
            <a:r>
              <a:rPr lang="en-US" sz="2000" dirty="0"/>
              <a:t>(2), 44. </a:t>
            </a:r>
            <a:r>
              <a:rPr lang="en-US" sz="2000" u="sng" dirty="0">
                <a:hlinkClick r:id="rId9"/>
              </a:rPr>
              <a:t>https://doi.org/10.3390/aerospace8020044</a:t>
            </a:r>
            <a:endParaRPr lang="en-US" sz="2000" dirty="0"/>
          </a:p>
          <a:p>
            <a:r>
              <a:rPr lang="en-US" sz="2000" dirty="0" err="1"/>
              <a:t>Shengyou</a:t>
            </a:r>
            <a:r>
              <a:rPr lang="en-US" sz="2000" dirty="0"/>
              <a:t> Fang et al, , 2024, Prediction of aircraft fuel consumption based on machine learning algorithm, . Phys.: Conf. Ser. 2882 012043.</a:t>
            </a:r>
          </a:p>
          <a:p>
            <a:r>
              <a:rPr lang="en-US" sz="2000" dirty="0"/>
              <a:t>Panigrahi, Somnath. (2025). Inference of the Actual Take-Off Mass from ADS-B data using Machine Learning. </a:t>
            </a:r>
          </a:p>
          <a:p>
            <a:r>
              <a:rPr lang="en-US" sz="2000" dirty="0"/>
              <a:t>Li, L., Yuan, S., Teng, Y., &amp; Shao, J. (2021). A Study on Sustainable Consumption of Fuel—An Estimation Method of Aircraft. </a:t>
            </a:r>
            <a:r>
              <a:rPr lang="en-US" sz="2000" i="1" dirty="0"/>
              <a:t>Energies</a:t>
            </a:r>
            <a:r>
              <a:rPr lang="en-US" sz="2000" dirty="0"/>
              <a:t>, </a:t>
            </a:r>
            <a:r>
              <a:rPr lang="en-US" sz="2000" i="1" dirty="0"/>
              <a:t>14</a:t>
            </a:r>
            <a:r>
              <a:rPr lang="en-US" sz="2000" dirty="0"/>
              <a:t>(22), 7559. </a:t>
            </a:r>
            <a:r>
              <a:rPr lang="en-US" sz="2000" u="sng" dirty="0">
                <a:hlinkClick r:id="rId10"/>
              </a:rPr>
              <a:t>https://doi.org/10.3390/en14227559</a:t>
            </a:r>
            <a:endParaRPr lang="en-US" sz="2000" dirty="0"/>
          </a:p>
          <a:p>
            <a:r>
              <a:rPr lang="en-US" sz="2000" dirty="0"/>
              <a:t>Kühn, M. (2023, September 11). </a:t>
            </a:r>
            <a:r>
              <a:rPr lang="en-US" sz="2000" i="1" dirty="0"/>
              <a:t>Fuel Consumption of the 50 Most Used Passenger Aircraft</a:t>
            </a:r>
            <a:r>
              <a:rPr lang="en-US" sz="2000" dirty="0"/>
              <a:t> (Project report). Hamburg University of Applied Sciences, Department of Automotive and Aeronautical Engineering.</a:t>
            </a:r>
            <a:r>
              <a:rPr lang="en-US" sz="2000" dirty="0">
                <a:hlinkClick r:id="rId11"/>
              </a:rPr>
              <a:t> </a:t>
            </a:r>
            <a:r>
              <a:rPr lang="en-US" sz="2000" u="sng" dirty="0">
                <a:hlinkClick r:id="rId11"/>
              </a:rPr>
              <a:t>https://www.fzt.haw-hamburg.de/pers/Scholz/arbeiten/TextKuehn.pdf</a:t>
            </a:r>
            <a:endParaRPr lang="en-US" altLang="en-US" sz="2000" b="1" dirty="0">
              <a:latin typeface="Times New Roman" pitchFamily="18" charset="0"/>
            </a:endParaRPr>
          </a:p>
        </p:txBody>
      </p:sp>
      <p:sp>
        <p:nvSpPr>
          <p:cNvPr id="2111" name="Text Box 63"/>
          <p:cNvSpPr txBox="1">
            <a:spLocks noChangeArrowheads="1"/>
          </p:cNvSpPr>
          <p:nvPr/>
        </p:nvSpPr>
        <p:spPr bwMode="auto">
          <a:xfrm>
            <a:off x="19753263" y="7677150"/>
            <a:ext cx="8394700" cy="18613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170" tIns="30584" rIns="61170" bIns="30584">
            <a:spAutoFit/>
          </a:bodyPr>
          <a:lstStyle>
            <a:lvl1pPr algn="l" defTabSz="612775">
              <a:defRPr>
                <a:solidFill>
                  <a:schemeClr val="tx1"/>
                </a:solidFill>
                <a:latin typeface="Arial" charset="0"/>
              </a:defRPr>
            </a:lvl1pPr>
            <a:lvl2pPr marL="306388" algn="l" defTabSz="612775">
              <a:defRPr>
                <a:solidFill>
                  <a:schemeClr val="tx1"/>
                </a:solidFill>
                <a:latin typeface="Arial" charset="0"/>
              </a:defRPr>
            </a:lvl2pPr>
            <a:lvl3pPr marL="612775" algn="l" defTabSz="612775">
              <a:defRPr>
                <a:solidFill>
                  <a:schemeClr val="tx1"/>
                </a:solidFill>
                <a:latin typeface="Arial" charset="0"/>
              </a:defRPr>
            </a:lvl3pPr>
            <a:lvl4pPr marL="915988" algn="l" defTabSz="612775">
              <a:defRPr>
                <a:solidFill>
                  <a:schemeClr val="tx1"/>
                </a:solidFill>
                <a:latin typeface="Arial" charset="0"/>
              </a:defRPr>
            </a:lvl4pPr>
            <a:lvl5pPr marL="1222375" algn="l" defTabSz="612775">
              <a:defRPr>
                <a:solidFill>
                  <a:schemeClr val="tx1"/>
                </a:solidFill>
                <a:latin typeface="Arial" charset="0"/>
              </a:defRPr>
            </a:lvl5pPr>
            <a:lvl6pPr marL="1679575" defTabSz="612775" fontAlgn="base">
              <a:spcBef>
                <a:spcPct val="0"/>
              </a:spcBef>
              <a:spcAft>
                <a:spcPct val="0"/>
              </a:spcAft>
              <a:defRPr>
                <a:solidFill>
                  <a:schemeClr val="tx1"/>
                </a:solidFill>
                <a:latin typeface="Arial" charset="0"/>
              </a:defRPr>
            </a:lvl6pPr>
            <a:lvl7pPr marL="2136775" defTabSz="612775" fontAlgn="base">
              <a:spcBef>
                <a:spcPct val="0"/>
              </a:spcBef>
              <a:spcAft>
                <a:spcPct val="0"/>
              </a:spcAft>
              <a:defRPr>
                <a:solidFill>
                  <a:schemeClr val="tx1"/>
                </a:solidFill>
                <a:latin typeface="Arial" charset="0"/>
              </a:defRPr>
            </a:lvl7pPr>
            <a:lvl8pPr marL="2593975" defTabSz="612775" fontAlgn="base">
              <a:spcBef>
                <a:spcPct val="0"/>
              </a:spcBef>
              <a:spcAft>
                <a:spcPct val="0"/>
              </a:spcAft>
              <a:defRPr>
                <a:solidFill>
                  <a:schemeClr val="tx1"/>
                </a:solidFill>
                <a:latin typeface="Arial" charset="0"/>
              </a:defRPr>
            </a:lvl8pPr>
            <a:lvl9pPr marL="3051175" defTabSz="612775" fontAlgn="base">
              <a:spcBef>
                <a:spcPct val="0"/>
              </a:spcBef>
              <a:spcAft>
                <a:spcPct val="0"/>
              </a:spcAft>
              <a:defRPr>
                <a:solidFill>
                  <a:schemeClr val="tx1"/>
                </a:solidFill>
                <a:latin typeface="Arial" charset="0"/>
              </a:defRPr>
            </a:lvl9pPr>
          </a:lstStyle>
          <a:p>
            <a:pPr eaLnBrk="0" hangingPunct="0">
              <a:lnSpc>
                <a:spcPct val="95000"/>
              </a:lnSpc>
            </a:pPr>
            <a:r>
              <a:rPr lang="en-US" sz="3500" dirty="0"/>
              <a:t>Both the Linear Regression and Decision Tree models performed similarly in predicting fuel price per </a:t>
            </a:r>
            <a:r>
              <a:rPr lang="en-US" sz="3500" dirty="0" err="1"/>
              <a:t>litre</a:t>
            </a:r>
            <a:r>
              <a:rPr lang="en-US" sz="3500" dirty="0"/>
              <a:t>. The Linear Regression model achieved an R² of 0.69, meaning it explains about 69% of the variation in fuel prices, with the remaining 31% likely due to outside factors such as global crude oil fluctuations or general noise in the data. Its RMSE of 0.2056 indicates that predictions are off by about 20.5 cents per </a:t>
            </a:r>
            <a:r>
              <a:rPr lang="en-US" sz="3500" dirty="0" err="1"/>
              <a:t>litre</a:t>
            </a:r>
            <a:r>
              <a:rPr lang="en-US" sz="3500" dirty="0"/>
              <a:t> on average. The Decision Tree Regressor performed slightly worse, with an R² of 0.67 and an RMSE of 0.212, showing that it explains 67% of the variability and has an average prediction error of about 21.2 cents per </a:t>
            </a:r>
            <a:r>
              <a:rPr lang="en-US" sz="3500" dirty="0" err="1"/>
              <a:t>litre</a:t>
            </a:r>
            <a:r>
              <a:rPr lang="en-US" sz="3500" dirty="0"/>
              <a:t>. Overall, Linear Regression provided marginally better accuracy.</a:t>
            </a:r>
            <a:endParaRPr lang="en-US" altLang="en-US" sz="3500" dirty="0">
              <a:latin typeface="Times New Roman" pitchFamily="18" charset="0"/>
            </a:endParaRPr>
          </a:p>
          <a:p>
            <a:pPr eaLnBrk="0" hangingPunct="0">
              <a:lnSpc>
                <a:spcPct val="95000"/>
              </a:lnSpc>
            </a:pPr>
            <a:endParaRPr lang="en-US" altLang="en-US" sz="2800" b="1" dirty="0">
              <a:latin typeface="Times New Roman" pitchFamily="18" charset="0"/>
            </a:endParaRPr>
          </a:p>
          <a:p>
            <a:pPr algn="ctr" eaLnBrk="0" hangingPunct="0">
              <a:lnSpc>
                <a:spcPct val="95000"/>
              </a:lnSpc>
            </a:pPr>
            <a:r>
              <a:rPr lang="en-US" altLang="en-US" sz="7200" b="1" dirty="0">
                <a:latin typeface="Times New Roman" pitchFamily="18" charset="0"/>
              </a:rPr>
              <a:t>Results</a:t>
            </a:r>
          </a:p>
          <a:p>
            <a:pPr eaLnBrk="0" hangingPunct="0">
              <a:lnSpc>
                <a:spcPct val="95000"/>
              </a:lnSpc>
            </a:pPr>
            <a:r>
              <a:rPr lang="en-US" sz="3600" dirty="0"/>
              <a:t>The analysis shows that fuel prices are usually low, with a common peak around $1.00 per </a:t>
            </a:r>
            <a:r>
              <a:rPr lang="en-US" sz="3600" dirty="0" err="1"/>
              <a:t>litre</a:t>
            </a:r>
            <a:r>
              <a:rPr lang="en-US" sz="3600" dirty="0"/>
              <a:t>, but some regions—especially in western and coastal areas—consistently pay more. Shell is the leading supplier by a wide margin. Larger purchases tend to have lower prices, while British Columbia often appears in the high-price range. Price trends rise early, fluctuate, and then stabilize. Correlation results confirm that fuel volume strongly drives total cost, while other relationships are only moderate or weak.</a:t>
            </a:r>
            <a:endParaRPr lang="en-US" altLang="en-US" sz="3600" dirty="0">
              <a:latin typeface="Times New Roman" pitchFamily="18" charset="0"/>
            </a:endParaRPr>
          </a:p>
        </p:txBody>
      </p:sp>
      <p:sp>
        <p:nvSpPr>
          <p:cNvPr id="2112" name="Text Box 64"/>
          <p:cNvSpPr txBox="1">
            <a:spLocks noChangeArrowheads="1"/>
          </p:cNvSpPr>
          <p:nvPr/>
        </p:nvSpPr>
        <p:spPr bwMode="auto">
          <a:xfrm>
            <a:off x="29143325" y="7877175"/>
            <a:ext cx="8261350" cy="1248824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57150" cmpd="thinThick">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61170" tIns="30584" rIns="61170" bIns="30584">
            <a:spAutoFit/>
          </a:bodyPr>
          <a:lstStyle>
            <a:lvl1pPr algn="l" defTabSz="612775">
              <a:defRPr>
                <a:solidFill>
                  <a:schemeClr val="tx1"/>
                </a:solidFill>
                <a:latin typeface="Arial" charset="0"/>
              </a:defRPr>
            </a:lvl1pPr>
            <a:lvl2pPr marL="306388" algn="l" defTabSz="612775">
              <a:defRPr>
                <a:solidFill>
                  <a:schemeClr val="tx1"/>
                </a:solidFill>
                <a:latin typeface="Arial" charset="0"/>
              </a:defRPr>
            </a:lvl2pPr>
            <a:lvl3pPr marL="612775" algn="l" defTabSz="612775">
              <a:defRPr>
                <a:solidFill>
                  <a:schemeClr val="tx1"/>
                </a:solidFill>
                <a:latin typeface="Arial" charset="0"/>
              </a:defRPr>
            </a:lvl3pPr>
            <a:lvl4pPr marL="915988" algn="l" defTabSz="612775">
              <a:defRPr>
                <a:solidFill>
                  <a:schemeClr val="tx1"/>
                </a:solidFill>
                <a:latin typeface="Arial" charset="0"/>
              </a:defRPr>
            </a:lvl4pPr>
            <a:lvl5pPr marL="1222375" algn="l" defTabSz="612775">
              <a:defRPr>
                <a:solidFill>
                  <a:schemeClr val="tx1"/>
                </a:solidFill>
                <a:latin typeface="Arial" charset="0"/>
              </a:defRPr>
            </a:lvl5pPr>
            <a:lvl6pPr marL="1679575" defTabSz="612775" fontAlgn="base">
              <a:spcBef>
                <a:spcPct val="0"/>
              </a:spcBef>
              <a:spcAft>
                <a:spcPct val="0"/>
              </a:spcAft>
              <a:defRPr>
                <a:solidFill>
                  <a:schemeClr val="tx1"/>
                </a:solidFill>
                <a:latin typeface="Arial" charset="0"/>
              </a:defRPr>
            </a:lvl6pPr>
            <a:lvl7pPr marL="2136775" defTabSz="612775" fontAlgn="base">
              <a:spcBef>
                <a:spcPct val="0"/>
              </a:spcBef>
              <a:spcAft>
                <a:spcPct val="0"/>
              </a:spcAft>
              <a:defRPr>
                <a:solidFill>
                  <a:schemeClr val="tx1"/>
                </a:solidFill>
                <a:latin typeface="Arial" charset="0"/>
              </a:defRPr>
            </a:lvl7pPr>
            <a:lvl8pPr marL="2593975" defTabSz="612775" fontAlgn="base">
              <a:spcBef>
                <a:spcPct val="0"/>
              </a:spcBef>
              <a:spcAft>
                <a:spcPct val="0"/>
              </a:spcAft>
              <a:defRPr>
                <a:solidFill>
                  <a:schemeClr val="tx1"/>
                </a:solidFill>
                <a:latin typeface="Arial" charset="0"/>
              </a:defRPr>
            </a:lvl8pPr>
            <a:lvl9pPr marL="3051175" defTabSz="612775" fontAlgn="base">
              <a:spcBef>
                <a:spcPct val="0"/>
              </a:spcBef>
              <a:spcAft>
                <a:spcPct val="0"/>
              </a:spcAft>
              <a:defRPr>
                <a:solidFill>
                  <a:schemeClr val="tx1"/>
                </a:solidFill>
                <a:latin typeface="Arial" charset="0"/>
              </a:defRPr>
            </a:lvl9pPr>
          </a:lstStyle>
          <a:p>
            <a:pPr eaLnBrk="0" hangingPunct="0">
              <a:lnSpc>
                <a:spcPct val="95000"/>
              </a:lnSpc>
            </a:pPr>
            <a:r>
              <a:rPr lang="en-US" sz="3400" dirty="0"/>
              <a:t>Overall, this analysis demonstrates that aviation fuel prices in Canada vary notably across regions, with western and coastal areas showing consistently higher and more volatile costs than central and eastern locations. Exploratory data analysis highlighted clear pricing patterns, such as the common $1.00 per </a:t>
            </a:r>
            <a:r>
              <a:rPr lang="en-US" sz="3400" dirty="0" err="1"/>
              <a:t>litre</a:t>
            </a:r>
            <a:r>
              <a:rPr lang="en-US" sz="3400" dirty="0"/>
              <a:t> benchmark and the inverse relationship between purchase size and price, while also revealing that certain suppliers, particularly Shell, dominate the fuel market. The machine learning models further supported these findings: both Linear Regression and Decision Tree Regressor captured the majority of price variation, though approximately one-third of pricing remains driven by external factors such as global market conditions. Together, these results underscore the importance of understanding regional cost dynamics to improve refueling strategies, enhance operational planning, and support both financial and sustainability goals within the aviation sector.</a:t>
            </a:r>
            <a:endParaRPr lang="en-US" altLang="en-US" sz="3400" dirty="0">
              <a:latin typeface="Times New Roman" pitchFamily="18" charset="0"/>
            </a:endParaRPr>
          </a:p>
        </p:txBody>
      </p:sp>
      <p:sp>
        <p:nvSpPr>
          <p:cNvPr id="2113" name="Text Box 65"/>
          <p:cNvSpPr txBox="1">
            <a:spLocks noChangeArrowheads="1"/>
          </p:cNvSpPr>
          <p:nvPr/>
        </p:nvSpPr>
        <p:spPr bwMode="auto">
          <a:xfrm>
            <a:off x="838200" y="6267450"/>
            <a:ext cx="840105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4389438">
              <a:defRPr>
                <a:solidFill>
                  <a:schemeClr val="tx1"/>
                </a:solidFill>
                <a:latin typeface="Arial" charset="0"/>
              </a:defRPr>
            </a:lvl1pPr>
            <a:lvl2pPr algn="l" defTabSz="4389438">
              <a:defRPr>
                <a:solidFill>
                  <a:schemeClr val="tx1"/>
                </a:solidFill>
                <a:latin typeface="Arial" charset="0"/>
              </a:defRPr>
            </a:lvl2pPr>
            <a:lvl3pPr algn="l" defTabSz="4389438">
              <a:defRPr>
                <a:solidFill>
                  <a:schemeClr val="tx1"/>
                </a:solidFill>
                <a:latin typeface="Arial" charset="0"/>
              </a:defRPr>
            </a:lvl3pPr>
            <a:lvl4pPr algn="l" defTabSz="4389438">
              <a:defRPr>
                <a:solidFill>
                  <a:schemeClr val="tx1"/>
                </a:solidFill>
                <a:latin typeface="Arial" charset="0"/>
              </a:defRPr>
            </a:lvl4pPr>
            <a:lvl5pPr algn="l"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spcBef>
                <a:spcPct val="50000"/>
              </a:spcBef>
            </a:pPr>
            <a:r>
              <a:rPr lang="en-US" altLang="en-US" sz="8000" b="1" dirty="0"/>
              <a:t>Abstract</a:t>
            </a:r>
          </a:p>
        </p:txBody>
      </p:sp>
      <p:sp>
        <p:nvSpPr>
          <p:cNvPr id="2114" name="Text Box 66"/>
          <p:cNvSpPr txBox="1">
            <a:spLocks noChangeArrowheads="1"/>
          </p:cNvSpPr>
          <p:nvPr/>
        </p:nvSpPr>
        <p:spPr bwMode="auto">
          <a:xfrm>
            <a:off x="19573875" y="6273800"/>
            <a:ext cx="8572500"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lgn="l" defTabSz="4389438">
              <a:defRPr>
                <a:solidFill>
                  <a:schemeClr val="tx1"/>
                </a:solidFill>
                <a:latin typeface="Arial" charset="0"/>
              </a:defRPr>
            </a:lvl1pPr>
            <a:lvl2pPr algn="l" defTabSz="4389438">
              <a:defRPr>
                <a:solidFill>
                  <a:schemeClr val="tx1"/>
                </a:solidFill>
                <a:latin typeface="Arial" charset="0"/>
              </a:defRPr>
            </a:lvl2pPr>
            <a:lvl3pPr algn="l" defTabSz="4389438">
              <a:defRPr>
                <a:solidFill>
                  <a:schemeClr val="tx1"/>
                </a:solidFill>
                <a:latin typeface="Arial" charset="0"/>
              </a:defRPr>
            </a:lvl3pPr>
            <a:lvl4pPr algn="l" defTabSz="4389438">
              <a:defRPr>
                <a:solidFill>
                  <a:schemeClr val="tx1"/>
                </a:solidFill>
                <a:latin typeface="Arial" charset="0"/>
              </a:defRPr>
            </a:lvl4pPr>
            <a:lvl5pPr algn="l"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spcBef>
                <a:spcPct val="50000"/>
              </a:spcBef>
            </a:pPr>
            <a:r>
              <a:rPr lang="en-US" altLang="en-US" sz="8000" b="1" dirty="0"/>
              <a:t>Evaluation</a:t>
            </a:r>
          </a:p>
        </p:txBody>
      </p:sp>
      <p:sp>
        <p:nvSpPr>
          <p:cNvPr id="2115" name="Text Box 67"/>
          <p:cNvSpPr txBox="1">
            <a:spLocks noChangeArrowheads="1"/>
          </p:cNvSpPr>
          <p:nvPr/>
        </p:nvSpPr>
        <p:spPr bwMode="auto">
          <a:xfrm>
            <a:off x="31810037" y="2941479"/>
            <a:ext cx="4824268"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lgn="l" defTabSz="4389438">
              <a:defRPr>
                <a:solidFill>
                  <a:schemeClr val="tx1"/>
                </a:solidFill>
                <a:latin typeface="Arial" charset="0"/>
              </a:defRPr>
            </a:lvl1pPr>
            <a:lvl2pPr algn="l" defTabSz="4389438">
              <a:defRPr>
                <a:solidFill>
                  <a:schemeClr val="tx1"/>
                </a:solidFill>
                <a:latin typeface="Arial" charset="0"/>
              </a:defRPr>
            </a:lvl2pPr>
            <a:lvl3pPr algn="l" defTabSz="4389438">
              <a:defRPr>
                <a:solidFill>
                  <a:schemeClr val="tx1"/>
                </a:solidFill>
                <a:latin typeface="Arial" charset="0"/>
              </a:defRPr>
            </a:lvl3pPr>
            <a:lvl4pPr algn="l" defTabSz="4389438">
              <a:defRPr>
                <a:solidFill>
                  <a:schemeClr val="tx1"/>
                </a:solidFill>
                <a:latin typeface="Arial" charset="0"/>
              </a:defRPr>
            </a:lvl4pPr>
            <a:lvl5pPr algn="l" defTabSz="4389438">
              <a:defRPr>
                <a:solidFill>
                  <a:schemeClr val="tx1"/>
                </a:solidFill>
                <a:latin typeface="Arial" charset="0"/>
              </a:defRPr>
            </a:lvl5pPr>
            <a:lvl6pPr defTabSz="4389438" fontAlgn="base">
              <a:spcBef>
                <a:spcPct val="0"/>
              </a:spcBef>
              <a:spcAft>
                <a:spcPct val="0"/>
              </a:spcAft>
              <a:defRPr>
                <a:solidFill>
                  <a:schemeClr val="tx1"/>
                </a:solidFill>
                <a:latin typeface="Arial" charset="0"/>
              </a:defRPr>
            </a:lvl6pPr>
            <a:lvl7pPr defTabSz="4389438" fontAlgn="base">
              <a:spcBef>
                <a:spcPct val="0"/>
              </a:spcBef>
              <a:spcAft>
                <a:spcPct val="0"/>
              </a:spcAft>
              <a:defRPr>
                <a:solidFill>
                  <a:schemeClr val="tx1"/>
                </a:solidFill>
                <a:latin typeface="Arial" charset="0"/>
              </a:defRPr>
            </a:lvl7pPr>
            <a:lvl8pPr defTabSz="4389438" fontAlgn="base">
              <a:spcBef>
                <a:spcPct val="0"/>
              </a:spcBef>
              <a:spcAft>
                <a:spcPct val="0"/>
              </a:spcAft>
              <a:defRPr>
                <a:solidFill>
                  <a:schemeClr val="tx1"/>
                </a:solidFill>
                <a:latin typeface="Arial" charset="0"/>
              </a:defRPr>
            </a:lvl8pPr>
            <a:lvl9pPr defTabSz="4389438" fontAlgn="base">
              <a:spcBef>
                <a:spcPct val="0"/>
              </a:spcBef>
              <a:spcAft>
                <a:spcPct val="0"/>
              </a:spcAft>
              <a:defRPr>
                <a:solidFill>
                  <a:schemeClr val="tx1"/>
                </a:solidFill>
                <a:latin typeface="Arial" charset="0"/>
              </a:defRPr>
            </a:lvl9pPr>
          </a:lstStyle>
          <a:p>
            <a:pPr algn="ctr">
              <a:spcBef>
                <a:spcPct val="50000"/>
              </a:spcBef>
            </a:pPr>
            <a:r>
              <a:rPr lang="en-US" altLang="en-US" b="1" dirty="0">
                <a:hlinkClick r:id="rId12"/>
              </a:rPr>
              <a:t>GitHub</a:t>
            </a:r>
            <a:endParaRPr lang="en-US" altLang="en-US" b="1" dirty="0"/>
          </a:p>
          <a:p>
            <a:pPr algn="ctr">
              <a:spcBef>
                <a:spcPct val="50000"/>
              </a:spcBef>
            </a:pPr>
            <a:endParaRPr lang="en-US" altLang="en-US" sz="2800" dirty="0">
              <a:solidFill>
                <a:srgbClr val="FF0000"/>
              </a:solidFill>
            </a:endParaRPr>
          </a:p>
        </p:txBody>
      </p:sp>
      <p:pic>
        <p:nvPicPr>
          <p:cNvPr id="2052" name="Picture 4">
            <a:extLst>
              <a:ext uri="{FF2B5EF4-FFF2-40B4-BE49-F238E27FC236}">
                <a16:creationId xmlns:a16="http://schemas.microsoft.com/office/drawing/2014/main" id="{49948A1B-94C7-792D-6A26-B39E165F2CF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021570" y="23185190"/>
            <a:ext cx="8865234" cy="600795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88E1FFA2-D943-C757-B2E9-BA6A2B23276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9736194" y="27667547"/>
            <a:ext cx="8247861" cy="1323439"/>
          </a:xfrm>
          <a:prstGeom prst="rect">
            <a:avLst/>
          </a:prstGeom>
          <a:noFill/>
          <a:extLst>
            <a:ext uri="{909E8E84-426E-40DD-AFC4-6F175D3DCCD1}">
              <a14:hiddenFill xmlns:a14="http://schemas.microsoft.com/office/drawing/2010/main">
                <a:solidFill>
                  <a:srgbClr val="FFFFFF"/>
                </a:solidFill>
              </a14:hiddenFill>
            </a:ext>
          </a:extLst>
        </p:spPr>
      </p:pic>
      <p:pic>
        <p:nvPicPr>
          <p:cNvPr id="2068" name="Picture 20" descr="Pace University in United States : Reviews &amp; Rankings | Student Reviews &amp;  University Rankings EDUopinions">
            <a:extLst>
              <a:ext uri="{FF2B5EF4-FFF2-40B4-BE49-F238E27FC236}">
                <a16:creationId xmlns:a16="http://schemas.microsoft.com/office/drawing/2014/main" id="{D9289B5F-A75D-0435-050C-261424497B40}"/>
              </a:ext>
            </a:extLst>
          </p:cNvPr>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1770495" y="2505930"/>
            <a:ext cx="3107893" cy="310789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altLang="en-US" sz="86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bg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4389438" rtl="0" eaLnBrk="1" fontAlgn="base" latinLnBrk="0" hangingPunct="1">
          <a:lnSpc>
            <a:spcPct val="100000"/>
          </a:lnSpc>
          <a:spcBef>
            <a:spcPct val="0"/>
          </a:spcBef>
          <a:spcAft>
            <a:spcPct val="0"/>
          </a:spcAft>
          <a:buClrTx/>
          <a:buSzTx/>
          <a:buFontTx/>
          <a:buNone/>
          <a:tabLst/>
          <a:defRPr kumimoji="0" lang="en-US" altLang="en-US" sz="8600" b="0" i="0" u="none" strike="noStrike" cap="none" normalizeH="0" baseline="0" smtClean="0">
            <a:ln>
              <a:noFill/>
            </a:ln>
            <a:solidFill>
              <a:schemeClr val="tx1"/>
            </a:solidFill>
            <a:effectLst/>
            <a:latin typeface="Arial" charset="0"/>
          </a:defRPr>
        </a:defPPr>
      </a:lstStyle>
    </a:lnDef>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357</TotalTime>
  <Words>1115</Words>
  <Application>Microsoft Office PowerPoint</Application>
  <PresentationFormat>Custom</PresentationFormat>
  <Paragraphs>35</Paragraphs>
  <Slides>1</Slides>
  <Notes>1</Notes>
  <HiddenSlides>0</HiddenSlides>
  <MMClips>0</MMClips>
  <ScaleCrop>false</ScaleCrop>
  <HeadingPairs>
    <vt:vector size="8" baseType="variant">
      <vt:variant>
        <vt:lpstr>Fonts Used</vt:lpstr>
      </vt:variant>
      <vt:variant>
        <vt:i4>2</vt:i4>
      </vt:variant>
      <vt:variant>
        <vt:lpstr>Theme</vt:lpstr>
      </vt:variant>
      <vt:variant>
        <vt:i4>1</vt:i4>
      </vt:variant>
      <vt:variant>
        <vt:lpstr>Embedded OLE Servers</vt:lpstr>
      </vt:variant>
      <vt:variant>
        <vt:i4>1</vt:i4>
      </vt:variant>
      <vt:variant>
        <vt:lpstr>Slide Titles</vt:lpstr>
      </vt:variant>
      <vt:variant>
        <vt:i4>1</vt:i4>
      </vt:variant>
    </vt:vector>
  </HeadingPairs>
  <TitlesOfParts>
    <vt:vector size="5" baseType="lpstr">
      <vt:lpstr>Arial</vt:lpstr>
      <vt:lpstr>Times New Roman</vt:lpstr>
      <vt:lpstr>Default Design</vt:lpstr>
      <vt:lpstr>CorelDRAW</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Horizontal Poster</dc:title>
  <dc:creator>Ethan Shulda</dc:creator>
  <dc:description>©MegaPrint Inc. 2009</dc:description>
  <cp:lastModifiedBy>Breygina, Sasha</cp:lastModifiedBy>
  <cp:revision>33</cp:revision>
  <dcterms:created xsi:type="dcterms:W3CDTF">2008-12-04T00:20:37Z</dcterms:created>
  <dcterms:modified xsi:type="dcterms:W3CDTF">2025-12-12T02:21:47Z</dcterms:modified>
  <cp:category>Research Poster</cp:category>
</cp:coreProperties>
</file>